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60c773313_7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60c773313_7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End to end NLP project classifying news headlines as fake (0) or real (1). Covers data prep, feature engineering and five models.</a:t>
            </a:r>
            <a:endParaRPr/>
          </a:p>
        </p:txBody>
      </p:sp>
      <p:sp>
        <p:nvSpPr>
          <p:cNvPr id="57" name="Google Shape;57;g3f60c773313_7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0c773313_3_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60c773313_3_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34,152 rows, two columns, no nulls. Classes are close to balanced so accuracy is a fair headline metric. 1,946 duplicates were noted in the raw copy.</a:t>
            </a:r>
            <a:endParaRPr/>
          </a:p>
        </p:txBody>
      </p:sp>
      <p:sp>
        <p:nvSpPr>
          <p:cNvPr id="70" name="Google Shape;70;g3f60c773313_3_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0c773313_10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60c773313_10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drop_duplicates removed 1,946 rows, 34,152 to 32,206. Doing this before the split avoids leakage where an identical headline appears in train and test. All later numbers use the cleaned set.</a:t>
            </a:r>
            <a:endParaRPr/>
          </a:p>
        </p:txBody>
      </p:sp>
      <p:sp>
        <p:nvSpPr>
          <p:cNvPr id="84" name="Google Shape;84;g3f60c773313_10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0c773313_7_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60c773313_7_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Diagnostics counted urls, html, special chars, whitespace, very short and very long texts per label. Special chars removed, short texts kept as a signal, whitespace normalised.</a:t>
            </a:r>
            <a:endParaRPr/>
          </a:p>
        </p:txBody>
      </p:sp>
      <p:sp>
        <p:nvSpPr>
          <p:cNvPr id="106" name="Google Shape;106;g3f60c773313_7_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0c773313_7_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60c773313_7_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Six step pipeline. Splitting before fitting the vectorizer prevents data leakage. TF-IDF was chosen over plain bag of words as the main feature set.</a:t>
            </a:r>
            <a:endParaRPr/>
          </a:p>
        </p:txBody>
      </p:sp>
      <p:sp>
        <p:nvSpPr>
          <p:cNvPr id="131" name="Google Shape;131;g3f60c773313_7_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0c773313_13_1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g3f60c773313_13_1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1-3 share sparse TF-IDF. Model 4 uses dense Word2Vec averages. Model 5 is a pretrained transformer used as a probe.</a:t>
            </a:r>
            <a:endParaRPr/>
          </a:p>
        </p:txBody>
      </p:sp>
      <p:sp>
        <p:nvSpPr>
          <p:cNvPr id="170" name="Google Shape;170;g3f60c773313_13_1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0c773313_13_3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f60c773313_13_3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1 default TF-IDF 92.52 test. Model 2 fine-tuned 92.63 test, a 0.11 point gain. The tuning barely moved accuracy because headlines are short and keyword driven; Model 2 was deployed for its smaller, capped vocabulary.</a:t>
            </a:r>
            <a:endParaRPr/>
          </a:p>
        </p:txBody>
      </p:sp>
      <p:sp>
        <p:nvSpPr>
          <p:cNvPr id="197" name="Google Shape;197;g3f60c773313_13_3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60c773313_13_7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f60c773313_13_7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Tuned LogReg 92.63 leads. Default 92.52. Naive Bayes 91.93 with tightest gap. LightGBM+W2V 87.22. Pretrained transformer 48.55 because it was a sentiment model.</a:t>
            </a:r>
            <a:endParaRPr/>
          </a:p>
        </p:txBody>
      </p:sp>
      <p:sp>
        <p:nvSpPr>
          <p:cNvPr id="220" name="Google Shape;220;g3f60c773313_13_7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0c773313_18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f60c773313_18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 vs test bars per model with the exact train-test gap shown below each. GridSearch C=3 has the widest gap at 4.12 percent despite the top test score; Naive Bayes the tightest at 1.52; the deployed tuned LogReg sits at 3.33.</a:t>
            </a:r>
            <a:endParaRPr/>
          </a:p>
        </p:txBody>
      </p:sp>
      <p:sp>
        <p:nvSpPr>
          <p:cNvPr id="236" name="Google Shape;236;g3f60c773313_18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60c773313_16_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60c773313_16_1:notes"/>
          <p:cNvSpPr txBox="1"/>
          <p:nvPr>
            <p:ph idx="1" type="body"/>
          </p:nvPr>
        </p:nvSpPr>
        <p:spPr>
          <a:xfrm>
            <a:off x="685800" y="3300500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60c773313_16_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60c773313_11_1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f60c773313_11_13:notes"/>
          <p:cNvSpPr txBox="1"/>
          <p:nvPr>
            <p:ph idx="1" type="body"/>
          </p:nvPr>
        </p:nvSpPr>
        <p:spPr>
          <a:xfrm>
            <a:off x="685800" y="3300500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60c773313_11_1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60c773313_11_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f60c773313_11_0:notes"/>
          <p:cNvSpPr txBox="1"/>
          <p:nvPr>
            <p:ph idx="1" type="body"/>
          </p:nvPr>
        </p:nvSpPr>
        <p:spPr>
          <a:xfrm>
            <a:off x="685800" y="3300500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60c773313_11_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0c773313_1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60c773313_1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 slide: sets up that we're comparing two independent teammate pipelines on the same data before presenting the model comparison.</a:t>
            </a:r>
            <a:endParaRPr/>
          </a:p>
        </p:txBody>
      </p:sp>
      <p:sp>
        <p:nvSpPr>
          <p:cNvPr id="303" name="Google Shape;303;g3f60c773313_1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60c773313_15_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f60c773313_15_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Post-dedup: Jenifar's GridSearch LR (4.12pt) and Yoan's Naive Bayes+CountVec (4.83pt) overfit most. Jenifar's own Naive Bayes generalizes best (1.52pt gap) — same algorithm family as Yoan's, very different overfitting behavior.</a:t>
            </a:r>
            <a:endParaRPr/>
          </a:p>
        </p:txBody>
      </p:sp>
      <p:sp>
        <p:nvSpPr>
          <p:cNvPr id="327" name="Google Shape;327;g3f60c773313_15_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60c773313_15_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f60c773313_15_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'no single winner' slide — each model is #1 on a different, defensible criterion, with an honest disadvantage attached.</a:t>
            </a:r>
            <a:endParaRPr/>
          </a:p>
        </p:txBody>
      </p:sp>
      <p:sp>
        <p:nvSpPr>
          <p:cNvPr id="351" name="Google Shape;351;g3f60c773313_15_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60c773313_15_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60c773313_15_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Neither detour beat the TF-IDF baseline. Framed as a lesson, not a failure: sophistication only helps when matched to the task.</a:t>
            </a:r>
            <a:endParaRPr/>
          </a:p>
        </p:txBody>
      </p:sp>
      <p:sp>
        <p:nvSpPr>
          <p:cNvPr id="382" name="Google Shape;382;g3f60c773313_15_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0c773313_15_1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f60c773313_15_1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Closing slide. Deliberately does not declare a single 'final model' — the team's message is that the right choice depends on the priority.</a:t>
            </a:r>
            <a:endParaRPr/>
          </a:p>
        </p:txBody>
      </p:sp>
      <p:sp>
        <p:nvSpPr>
          <p:cNvPr id="400" name="Google Shape;400;g3f60c773313_15_1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E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/>
          <p:nvPr/>
        </p:nvSpPr>
        <p:spPr>
          <a:xfrm>
            <a:off x="0" y="0"/>
            <a:ext cx="3154680" cy="5143500"/>
          </a:xfrm>
          <a:prstGeom prst="roundRect">
            <a:avLst>
              <a:gd fmla="val 217" name="adj"/>
            </a:avLst>
          </a:prstGeom>
          <a:solidFill>
            <a:srgbClr val="1E2740"/>
          </a:solidFill>
          <a:ln cap="flat" cmpd="sng" w="12700">
            <a:solidFill>
              <a:srgbClr val="1E2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7"/>
          <p:cNvSpPr/>
          <p:nvPr/>
        </p:nvSpPr>
        <p:spPr>
          <a:xfrm>
            <a:off x="377190" y="3120390"/>
            <a:ext cx="2400300" cy="384048"/>
          </a:xfrm>
          <a:prstGeom prst="roundRect">
            <a:avLst>
              <a:gd fmla="val 14286" name="adj"/>
            </a:avLst>
          </a:prstGeom>
          <a:solidFill>
            <a:srgbClr val="141B2E"/>
          </a:solidFill>
          <a:ln cap="flat" cmpd="sng" w="15875">
            <a:solidFill>
              <a:srgbClr val="F26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FAKE  </a:t>
            </a:r>
            <a:r>
              <a:rPr b="0" i="0" lang="en-GB" sz="9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label =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7"/>
          <p:cNvSpPr/>
          <p:nvPr/>
        </p:nvSpPr>
        <p:spPr>
          <a:xfrm>
            <a:off x="377190" y="3614166"/>
            <a:ext cx="2400300" cy="384048"/>
          </a:xfrm>
          <a:prstGeom prst="roundRect">
            <a:avLst>
              <a:gd fmla="val 14286" name="adj"/>
            </a:avLst>
          </a:prstGeom>
          <a:solidFill>
            <a:srgbClr val="141B2E"/>
          </a:solidFill>
          <a:ln cap="flat" cmpd="sng" w="15875">
            <a:solidFill>
              <a:srgbClr val="22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  </a:t>
            </a:r>
            <a:r>
              <a:rPr b="0" i="0" lang="en-GB" sz="9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label =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377190" y="48006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NLP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/>
          <p:nvPr/>
        </p:nvSpPr>
        <p:spPr>
          <a:xfrm>
            <a:off x="3394710" y="10287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i="0" lang="en-GB" sz="3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Fake vs Real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i="0" lang="en-GB" sz="3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News Classification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/>
          <p:nvPr/>
        </p:nvSpPr>
        <p:spPr>
          <a:xfrm>
            <a:off x="3415284" y="2434590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An end to end text classification pipeline: from raw headlines to </a:t>
            </a:r>
            <a:r>
              <a:rPr lang="en-GB" sz="1200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best performing</a:t>
            </a:r>
            <a:r>
              <a:rPr b="0" i="0" lang="en-GB" sz="12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8225700" y="4871100"/>
            <a:ext cx="9183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1100"/>
              <a:buFont typeface="Cambria"/>
              <a:buNone/>
            </a:pPr>
            <a:r>
              <a:rPr b="1" lang="en-GB" sz="11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2026-07-31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4459365" y="3373960"/>
            <a:ext cx="240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1100"/>
              <a:buFont typeface="Cambria"/>
              <a:buNone/>
            </a:pPr>
            <a:r>
              <a:rPr b="1" lang="en-GB" sz="11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Team: Martin, Jenifar, Yoan, Manu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/>
          <p:nvPr/>
        </p:nvSpPr>
        <p:spPr>
          <a:xfrm>
            <a:off x="411480" y="34290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2600"/>
              <a:buFont typeface="Cambria"/>
              <a:buNone/>
            </a:pPr>
            <a:r>
              <a:rPr b="1" i="0" lang="en-GB" sz="26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The problem and the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8"/>
          <p:cNvSpPr/>
          <p:nvPr/>
        </p:nvSpPr>
        <p:spPr>
          <a:xfrm>
            <a:off x="411480" y="1062995"/>
            <a:ext cx="5760600" cy="685800"/>
          </a:xfrm>
          <a:prstGeom prst="roundRect">
            <a:avLst>
              <a:gd fmla="val 8000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8"/>
          <p:cNvSpPr/>
          <p:nvPr/>
        </p:nvSpPr>
        <p:spPr>
          <a:xfrm>
            <a:off x="582930" y="1062995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524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F5A524"/>
                </a:solidFill>
                <a:latin typeface="Cambria"/>
                <a:ea typeface="Cambria"/>
                <a:cs typeface="Cambria"/>
                <a:sym typeface="Cambria"/>
              </a:rPr>
              <a:t>1,946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2297430" y="1062995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41B2E"/>
                </a:solidFill>
                <a:latin typeface="Calibri"/>
                <a:ea typeface="Calibri"/>
                <a:cs typeface="Calibri"/>
                <a:sym typeface="Calibri"/>
              </a:rPr>
              <a:t>exact duplicate rows detected in the raw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8"/>
          <p:cNvSpPr/>
          <p:nvPr/>
        </p:nvSpPr>
        <p:spPr>
          <a:xfrm>
            <a:off x="6412230" y="1611630"/>
            <a:ext cx="2331600" cy="2297400"/>
          </a:xfrm>
          <a:prstGeom prst="roundRect">
            <a:avLst>
              <a:gd fmla="val 2687" name="adj"/>
            </a:avLst>
          </a:prstGeom>
          <a:solidFill>
            <a:srgbClr val="141B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/>
          <p:nvPr/>
        </p:nvSpPr>
        <p:spPr>
          <a:xfrm>
            <a:off x="6549390" y="1748790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Class balance </a:t>
            </a:r>
            <a:r>
              <a:rPr b="1" lang="en-GB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0810" y="2023110"/>
            <a:ext cx="219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8"/>
          <p:cNvSpPr/>
          <p:nvPr/>
        </p:nvSpPr>
        <p:spPr>
          <a:xfrm>
            <a:off x="6412230" y="3922776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800"/>
              <a:buFont typeface="Calibri"/>
              <a:buNone/>
            </a:pPr>
            <a:r>
              <a:rPr b="0" i="1" lang="en-GB" sz="8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Roughly balanced: 51% fake, 49%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411475" y="2263950"/>
            <a:ext cx="4888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Within the group of headlines y_prediction_probability below 0.8 (1155 headlines) there are 25% </a:t>
            </a:r>
            <a:r>
              <a:rPr lang="en-GB"/>
              <a:t>duplicates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(7% of all headlines are duplicates.)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Removing duplicates first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/>
          <p:nvPr/>
        </p:nvSpPr>
        <p:spPr>
          <a:xfrm>
            <a:off x="411480" y="8915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The raw file held 1,946 exact duplicate headlines. Dropping them before the split keeps the same text out of both train and test.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9"/>
          <p:cNvSpPr/>
          <p:nvPr/>
        </p:nvSpPr>
        <p:spPr>
          <a:xfrm>
            <a:off x="411480" y="1611630"/>
            <a:ext cx="2434590" cy="1371600"/>
          </a:xfrm>
          <a:prstGeom prst="roundRect">
            <a:avLst>
              <a:gd fmla="val 5000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411480" y="1748790"/>
            <a:ext cx="24345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9AA3B2"/>
                </a:solidFill>
                <a:latin typeface="Cambria"/>
                <a:ea typeface="Cambria"/>
                <a:cs typeface="Cambria"/>
                <a:sym typeface="Cambria"/>
              </a:rPr>
              <a:t>Before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411480" y="2023110"/>
            <a:ext cx="243459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34,152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411480" y="2537460"/>
            <a:ext cx="24345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rows, with duplicates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2948940" y="1611630"/>
            <a:ext cx="1028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524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5A524"/>
                </a:solidFill>
                <a:latin typeface="Cambria"/>
                <a:ea typeface="Cambria"/>
                <a:cs typeface="Cambria"/>
                <a:sym typeface="Cambria"/>
              </a:rPr>
              <a:t>−1,946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4046220" y="1611630"/>
            <a:ext cx="2434590" cy="1371600"/>
          </a:xfrm>
          <a:prstGeom prst="roundRect">
            <a:avLst>
              <a:gd fmla="val 5000" name="adj"/>
            </a:avLst>
          </a:prstGeom>
          <a:solidFill>
            <a:srgbClr val="1E2740"/>
          </a:solidFill>
          <a:ln cap="flat" cmpd="sng" w="15875">
            <a:solidFill>
              <a:srgbClr val="22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4046220" y="1748790"/>
            <a:ext cx="24345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B8A6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22B8A6"/>
                </a:solidFill>
                <a:latin typeface="Cambria"/>
                <a:ea typeface="Cambria"/>
                <a:cs typeface="Cambria"/>
                <a:sym typeface="Cambria"/>
              </a:rPr>
              <a:t>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4046220" y="2023110"/>
            <a:ext cx="243459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32,206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4046220" y="2537460"/>
            <a:ext cx="24345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unique headlines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583680" y="1611630"/>
            <a:ext cx="2160270" cy="1371600"/>
          </a:xfrm>
          <a:prstGeom prst="roundRect">
            <a:avLst>
              <a:gd fmla="val 5000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6720840" y="17145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4C6EF5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6720840" y="1988820"/>
            <a:ext cx="192024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A duplicate in both splits lets the model memorise a row it will later be tested on, inflating the score.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11480" y="3257550"/>
            <a:ext cx="8318754" cy="1268730"/>
          </a:xfrm>
          <a:prstGeom prst="roundRect">
            <a:avLst>
              <a:gd fmla="val 4865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582930" y="33604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Effect on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582930" y="3669030"/>
            <a:ext cx="79552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Every accuracy in this deck is measured on the de-duplicated data. Scores sit a little lower than a run with duplicates left in, but they are a more honest estimate of how the model handles genuinely unseen headlines.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Cleaning: diagnose first, then 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411480" y="8915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diagnostic pass counted quality issues per class before any text was changed, so cleaning choices were evidence based.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411480" y="1508760"/>
            <a:ext cx="2606040" cy="1748790"/>
          </a:xfrm>
          <a:prstGeom prst="roundRect">
            <a:avLst>
              <a:gd fmla="val 3529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582930" y="1680210"/>
            <a:ext cx="377190" cy="123444"/>
          </a:xfrm>
          <a:prstGeom prst="roundRect">
            <a:avLst>
              <a:gd fmla="val 33333" name="adj"/>
            </a:avLst>
          </a:prstGeom>
          <a:solidFill>
            <a:srgbClr val="F26D6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582930" y="1885950"/>
            <a:ext cx="2263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Special 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582930" y="2263140"/>
            <a:ext cx="22631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Present in both classes at similar rates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582930" y="2777490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D6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26D6D"/>
                </a:solidFill>
                <a:latin typeface="Calibri"/>
                <a:ea typeface="Calibri"/>
                <a:cs typeface="Calibri"/>
                <a:sym typeface="Calibri"/>
              </a:rPr>
              <a:t>Decision: </a:t>
            </a:r>
            <a:r>
              <a:rPr b="0" i="0" lang="en-GB" sz="900" u="none" cap="none" strike="noStrike">
                <a:solidFill>
                  <a:srgbClr val="141B2E"/>
                </a:solidFill>
                <a:latin typeface="Calibri"/>
                <a:ea typeface="Calibri"/>
                <a:cs typeface="Calibri"/>
                <a:sym typeface="Calibri"/>
              </a:rPr>
              <a:t>Removed — not a class signal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3188970" y="1508760"/>
            <a:ext cx="2606040" cy="1748790"/>
          </a:xfrm>
          <a:prstGeom prst="roundRect">
            <a:avLst>
              <a:gd fmla="val 3529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3360420" y="1680210"/>
            <a:ext cx="377190" cy="123444"/>
          </a:xfrm>
          <a:prstGeom prst="roundRect">
            <a:avLst>
              <a:gd fmla="val 33333" name="adj"/>
            </a:avLst>
          </a:prstGeom>
          <a:solidFill>
            <a:srgbClr val="22B8A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3360420" y="1885950"/>
            <a:ext cx="2263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Very short texts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3360420" y="2263140"/>
            <a:ext cx="22631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found, only in fake news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360420" y="2777490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B8A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22B8A6"/>
                </a:solidFill>
                <a:latin typeface="Calibri"/>
                <a:ea typeface="Calibri"/>
                <a:cs typeface="Calibri"/>
                <a:sym typeface="Calibri"/>
              </a:rPr>
              <a:t>Decision: </a:t>
            </a:r>
            <a:r>
              <a:rPr b="0" i="0" lang="en-GB" sz="900" u="none" cap="none" strike="noStrike">
                <a:solidFill>
                  <a:srgbClr val="141B2E"/>
                </a:solidFill>
                <a:latin typeface="Calibri"/>
                <a:ea typeface="Calibri"/>
                <a:cs typeface="Calibri"/>
                <a:sym typeface="Calibri"/>
              </a:rPr>
              <a:t>Kept — a genuine fake-news cue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966460" y="1508760"/>
            <a:ext cx="2606040" cy="1748790"/>
          </a:xfrm>
          <a:prstGeom prst="roundRect">
            <a:avLst>
              <a:gd fmla="val 3529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6137910" y="1680210"/>
            <a:ext cx="377190" cy="123444"/>
          </a:xfrm>
          <a:prstGeom prst="roundRect">
            <a:avLst>
              <a:gd fmla="val 33333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6137910" y="1885950"/>
            <a:ext cx="2263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Extra whitespace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6137910" y="2263140"/>
            <a:ext cx="22631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192 found, only in real news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6137910" y="2777490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4C6EF5"/>
                </a:solidFill>
                <a:latin typeface="Calibri"/>
                <a:ea typeface="Calibri"/>
                <a:cs typeface="Calibri"/>
                <a:sym typeface="Calibri"/>
              </a:rPr>
              <a:t>Decision: </a:t>
            </a:r>
            <a:r>
              <a:rPr b="0" i="0" lang="en-GB" sz="900" u="none" cap="none" strike="noStrike">
                <a:solidFill>
                  <a:srgbClr val="141B2E"/>
                </a:solidFill>
                <a:latin typeface="Calibri"/>
                <a:ea typeface="Calibri"/>
                <a:cs typeface="Calibri"/>
                <a:sym typeface="Calibri"/>
              </a:rPr>
              <a:t>Normalised during cleaning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411480" y="3463290"/>
            <a:ext cx="8318754" cy="1062990"/>
          </a:xfrm>
          <a:prstGeom prst="roundRect">
            <a:avLst>
              <a:gd fmla="val 5806" name="adj"/>
            </a:avLst>
          </a:prstGeom>
          <a:solidFill>
            <a:srgbClr val="141B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582930" y="35661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Cleaning applied to the whole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582930" y="387477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remove special characters   →   normalise whitespace   →   strip   →   lowercase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raw text to features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11480" y="8915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Split before anything is fit. The vectorizer learns only from training text, then transforms the test 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411480" y="1714500"/>
            <a:ext cx="1275588" cy="1371600"/>
          </a:xfrm>
          <a:prstGeom prst="roundRect">
            <a:avLst>
              <a:gd fmla="val 5376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864108" y="1837944"/>
            <a:ext cx="377190" cy="377190"/>
          </a:xfrm>
          <a:prstGeom prst="roundRect">
            <a:avLst>
              <a:gd fmla="val 36364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480060" y="2297430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480060" y="2571750"/>
            <a:ext cx="113842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special chars, case, whitespace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1632204" y="1714500"/>
            <a:ext cx="274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4C6EF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824228" y="1714500"/>
            <a:ext cx="1275588" cy="1371600"/>
          </a:xfrm>
          <a:prstGeom prst="roundRect">
            <a:avLst>
              <a:gd fmla="val 5376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2276856" y="1837944"/>
            <a:ext cx="377190" cy="377190"/>
          </a:xfrm>
          <a:prstGeom prst="roundRect">
            <a:avLst>
              <a:gd fmla="val 36364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1892808" y="2297430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1892808" y="2571750"/>
            <a:ext cx="113842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80 / 20 stratified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3044952" y="1714500"/>
            <a:ext cx="274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4C6EF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3236976" y="1714500"/>
            <a:ext cx="1275588" cy="1371600"/>
          </a:xfrm>
          <a:prstGeom prst="roundRect">
            <a:avLst>
              <a:gd fmla="val 5376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3689604" y="1837944"/>
            <a:ext cx="377190" cy="377190"/>
          </a:xfrm>
          <a:prstGeom prst="roundRect">
            <a:avLst>
              <a:gd fmla="val 36364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3305556" y="2297430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Tokenize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3305556" y="2571750"/>
            <a:ext cx="113842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word_tokenize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457700" y="1714500"/>
            <a:ext cx="274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4C6EF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649724" y="1714500"/>
            <a:ext cx="1275588" cy="1371600"/>
          </a:xfrm>
          <a:prstGeom prst="roundRect">
            <a:avLst>
              <a:gd fmla="val 5376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5102352" y="1837944"/>
            <a:ext cx="377190" cy="377190"/>
          </a:xfrm>
          <a:prstGeom prst="roundRect">
            <a:avLst>
              <a:gd fmla="val 36364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4718304" y="2297430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Stopwords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718304" y="2571750"/>
            <a:ext cx="113842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NLTK English list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870448" y="1714500"/>
            <a:ext cx="274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4C6EF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062472" y="1714500"/>
            <a:ext cx="1275588" cy="1371600"/>
          </a:xfrm>
          <a:prstGeom prst="roundRect">
            <a:avLst>
              <a:gd fmla="val 5376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6515100" y="1837944"/>
            <a:ext cx="377190" cy="377190"/>
          </a:xfrm>
          <a:prstGeom prst="roundRect">
            <a:avLst>
              <a:gd fmla="val 36364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6131052" y="2297430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Lemmatize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6131052" y="2571750"/>
            <a:ext cx="113842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WordNetLemmatizer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7283196" y="1714500"/>
            <a:ext cx="274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4C6EF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7475220" y="1714500"/>
            <a:ext cx="1275588" cy="1371600"/>
          </a:xfrm>
          <a:prstGeom prst="roundRect">
            <a:avLst>
              <a:gd fmla="val 5376" name="adj"/>
            </a:avLst>
          </a:prstGeom>
          <a:solidFill>
            <a:srgbClr val="1E2740"/>
          </a:solidFill>
          <a:ln cap="flat" cmpd="sng" w="12700">
            <a:solidFill>
              <a:srgbClr val="4C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7927848" y="1837944"/>
            <a:ext cx="377190" cy="377190"/>
          </a:xfrm>
          <a:prstGeom prst="roundRect">
            <a:avLst>
              <a:gd fmla="val 36364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7543800" y="2297430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Vectorize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7543800" y="2571750"/>
            <a:ext cx="113842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BoW and TF-IDF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411480" y="3429000"/>
            <a:ext cx="4114800" cy="1097280"/>
          </a:xfrm>
          <a:prstGeom prst="roundRect">
            <a:avLst>
              <a:gd fmla="val 5625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582930" y="353187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Train / test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82930" y="38404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B8A6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22B8A6"/>
                </a:solidFill>
                <a:latin typeface="Cambria"/>
                <a:ea typeface="Cambria"/>
                <a:cs typeface="Cambria"/>
                <a:sym typeface="Cambria"/>
              </a:rPr>
              <a:t>27,321 </a:t>
            </a:r>
            <a:r>
              <a:rPr b="0" i="0" lang="en-GB" sz="10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training     </a:t>
            </a:r>
            <a:r>
              <a:rPr b="1" i="0" lang="en-GB" sz="1800" u="none" cap="none" strike="noStrike">
                <a:solidFill>
                  <a:srgbClr val="4C6EF5"/>
                </a:solidFill>
                <a:latin typeface="Cambria"/>
                <a:ea typeface="Cambria"/>
                <a:cs typeface="Cambria"/>
                <a:sym typeface="Cambria"/>
              </a:rPr>
              <a:t>6,831 </a:t>
            </a:r>
            <a:r>
              <a:rPr b="0" i="0" lang="en-GB" sz="10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2300"/>
              <a:buFont typeface="Cambria"/>
              <a:buNone/>
            </a:pPr>
            <a:r>
              <a:rPr b="1" lang="en-GB" sz="23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Five models, one feature philosophy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411480" y="8915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Four classical models on sparse TF-IDF features, plus one dense embedding model and one pretrained transformer for contrast.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411480" y="1474470"/>
            <a:ext cx="8318754" cy="548640"/>
          </a:xfrm>
          <a:prstGeom prst="roundRect">
            <a:avLst>
              <a:gd fmla="val 8750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534924" y="1474470"/>
            <a:ext cx="425196" cy="548640"/>
          </a:xfrm>
          <a:prstGeom prst="roundRect">
            <a:avLst>
              <a:gd fmla="val 19355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GB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1165860" y="147447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lang="en-GB" sz="12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Logistic Regression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4389120" y="1474470"/>
            <a:ext cx="42176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Default TF-IDF, default classifier — the baseline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411480" y="2105406"/>
            <a:ext cx="8318754" cy="548640"/>
          </a:xfrm>
          <a:prstGeom prst="roundRect">
            <a:avLst>
              <a:gd fmla="val 8750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534924" y="2105406"/>
            <a:ext cx="425196" cy="548640"/>
          </a:xfrm>
          <a:prstGeom prst="roundRect">
            <a:avLst>
              <a:gd fmla="val 19355" name="adj"/>
            </a:avLst>
          </a:prstGeom>
          <a:solidFill>
            <a:srgbClr val="22B8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GB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1165860" y="2105406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lang="en-GB" sz="12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Logistic Regression, tuned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389120" y="2105406"/>
            <a:ext cx="42176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 = 3, TF-IDF with max_df 0.8, min_df 2, bigrams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11480" y="2736342"/>
            <a:ext cx="8318754" cy="548640"/>
          </a:xfrm>
          <a:prstGeom prst="roundRect">
            <a:avLst>
              <a:gd fmla="val 8750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534924" y="2736342"/>
            <a:ext cx="425196" cy="548640"/>
          </a:xfrm>
          <a:prstGeom prst="roundRect">
            <a:avLst>
              <a:gd fmla="val 19355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GB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1165860" y="2736342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lang="en-GB" sz="12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Multinomial Naive Bayes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4389120" y="2736342"/>
            <a:ext cx="42176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tuned TF-IDF, probabilistic classifier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411480" y="3367278"/>
            <a:ext cx="8318754" cy="548640"/>
          </a:xfrm>
          <a:prstGeom prst="roundRect">
            <a:avLst>
              <a:gd fmla="val 8750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34924" y="3367278"/>
            <a:ext cx="425196" cy="548640"/>
          </a:xfrm>
          <a:prstGeom prst="roundRect">
            <a:avLst>
              <a:gd fmla="val 19355" name="adj"/>
            </a:avLst>
          </a:prstGeom>
          <a:solidFill>
            <a:srgbClr val="F5A5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GB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165860" y="3367278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lang="en-GB" sz="12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LightGBM + Word2Vec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4389120" y="3367278"/>
            <a:ext cx="42176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Dense 100-d document vectors, gradient boosting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411480" y="3998214"/>
            <a:ext cx="8318754" cy="548640"/>
          </a:xfrm>
          <a:prstGeom prst="roundRect">
            <a:avLst>
              <a:gd fmla="val 8750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34924" y="3998214"/>
            <a:ext cx="425196" cy="548640"/>
          </a:xfrm>
          <a:prstGeom prst="roundRect">
            <a:avLst>
              <a:gd fmla="val 19355" name="adj"/>
            </a:avLst>
          </a:prstGeom>
          <a:solidFill>
            <a:srgbClr val="F26D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GB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1165860" y="3998214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200"/>
              <a:buFont typeface="Cambria"/>
              <a:buNone/>
            </a:pPr>
            <a:r>
              <a:rPr b="1" lang="en-GB" sz="12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Pretrained transformer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4389120" y="3998214"/>
            <a:ext cx="421767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Off-the-shelf sentiment model, used as a probe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2400"/>
              <a:buFont typeface="Cambria"/>
              <a:buNone/>
            </a:pPr>
            <a:r>
              <a:rPr b="1" lang="en-GB" sz="24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Logistic Regression face-off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11480" y="8915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 1 uses default TF-IDF. Model 2 adds fine-tuning: max_df 0.8, min_df 2, n-</a:t>
            </a:r>
            <a:r>
              <a:rPr lang="en-GB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grams=(1,2) </a:t>
            </a:r>
            <a:r>
              <a:rPr lang="en-GB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and C = 3. The accuracy gain is marginal.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11480" y="1474470"/>
            <a:ext cx="3840480" cy="1748790"/>
          </a:xfrm>
          <a:prstGeom prst="roundRect">
            <a:avLst>
              <a:gd fmla="val 3529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617220" y="1611630"/>
            <a:ext cx="34290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1200"/>
              <a:buFont typeface="Cambria"/>
              <a:buNone/>
            </a:pPr>
            <a:r>
              <a:rPr b="1" lang="en-GB" sz="1200">
                <a:solidFill>
                  <a:srgbClr val="4C6EF5"/>
                </a:solidFill>
                <a:latin typeface="Cambria"/>
                <a:ea typeface="Cambria"/>
                <a:cs typeface="Cambria"/>
                <a:sym typeface="Cambria"/>
              </a:rPr>
              <a:t>Model 1 · default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617220" y="190652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Plain TF-IDF, default LogReg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17220" y="2228850"/>
            <a:ext cx="3429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2600"/>
              <a:buFont typeface="Cambria"/>
              <a:buNone/>
            </a:pPr>
            <a:r>
              <a:rPr b="1" lang="en-GB" sz="2600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92.52%</a:t>
            </a: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test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617220" y="277749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Train 95.44%   ·   gap 2.92%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23"/>
          <p:cNvGrpSpPr/>
          <p:nvPr/>
        </p:nvGrpSpPr>
        <p:grpSpPr>
          <a:xfrm>
            <a:off x="4457700" y="1474470"/>
            <a:ext cx="3840480" cy="1878554"/>
            <a:chOff x="4457700" y="1474470"/>
            <a:chExt cx="3840480" cy="1878554"/>
          </a:xfrm>
        </p:grpSpPr>
        <p:sp>
          <p:nvSpPr>
            <p:cNvPr id="207" name="Google Shape;207;p23"/>
            <p:cNvSpPr/>
            <p:nvPr/>
          </p:nvSpPr>
          <p:spPr>
            <a:xfrm>
              <a:off x="4457700" y="1474470"/>
              <a:ext cx="3840480" cy="1748790"/>
            </a:xfrm>
            <a:prstGeom prst="roundRect">
              <a:avLst>
                <a:gd fmla="val 3529" name="adj"/>
              </a:avLst>
            </a:prstGeom>
            <a:solidFill>
              <a:srgbClr val="141B2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4663440" y="1611630"/>
              <a:ext cx="3429000" cy="30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B8A6"/>
                </a:buClr>
                <a:buSzPts val="1200"/>
                <a:buFont typeface="Cambria"/>
                <a:buNone/>
              </a:pPr>
              <a:r>
                <a:rPr b="1" lang="en-GB" sz="1200">
                  <a:solidFill>
                    <a:srgbClr val="22B8A6"/>
                  </a:solidFill>
                  <a:latin typeface="Cambria"/>
                  <a:ea typeface="Cambria"/>
                  <a:cs typeface="Cambria"/>
                  <a:sym typeface="Cambria"/>
                </a:rPr>
                <a:t>Model 2 · fine-tuned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4663440" y="1906524"/>
              <a:ext cx="3429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EB8D0"/>
                </a:buClr>
                <a:buSzPts val="900"/>
                <a:buFont typeface="Calibri"/>
                <a:buNone/>
              </a:pPr>
              <a:r>
                <a:rPr lang="en-GB" sz="900">
                  <a:solidFill>
                    <a:srgbClr val="AEB8D0"/>
                  </a:solidFill>
                  <a:latin typeface="Calibri"/>
                  <a:ea typeface="Calibri"/>
                  <a:cs typeface="Calibri"/>
                  <a:sym typeface="Calibri"/>
                </a:rPr>
                <a:t>max_df 0.8, min_df 2, n-grams=(1,2), C = 3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4663440" y="2228850"/>
              <a:ext cx="3429000" cy="480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Cambria"/>
                <a:buNone/>
              </a:pPr>
              <a:r>
                <a:rPr b="1" lang="en-GB" sz="26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92.63%</a:t>
              </a:r>
              <a:r>
                <a:rPr lang="en-GB" sz="1000">
                  <a:solidFill>
                    <a:srgbClr val="AEB8D0"/>
                  </a:solidFill>
                  <a:latin typeface="Calibri"/>
                  <a:ea typeface="Calibri"/>
                  <a:cs typeface="Calibri"/>
                  <a:sym typeface="Calibri"/>
                </a:rPr>
                <a:t>  test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4663440" y="2777490"/>
              <a:ext cx="3429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7D0E4"/>
                </a:buClr>
                <a:buSzPts val="900"/>
                <a:buFont typeface="Calibri"/>
                <a:buNone/>
              </a:pPr>
              <a:r>
                <a:rPr lang="en-GB" sz="900">
                  <a:solidFill>
                    <a:srgbClr val="C7D0E4"/>
                  </a:solidFill>
                  <a:latin typeface="Calibri"/>
                  <a:ea typeface="Calibri"/>
                  <a:cs typeface="Calibri"/>
                  <a:sym typeface="Calibri"/>
                </a:rPr>
                <a:t>Train 95.96%   ·   gap 3.33%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6163460" y="1604234"/>
              <a:ext cx="1303020" cy="1748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2B8A6"/>
                </a:buClr>
                <a:buSzPts val="1500"/>
                <a:buFont typeface="Cambria"/>
                <a:buNone/>
              </a:pPr>
              <a:r>
                <a:rPr b="1" lang="en-GB" sz="1500">
                  <a:solidFill>
                    <a:srgbClr val="22B8A6"/>
                  </a:solidFill>
                  <a:latin typeface="Cambria"/>
                  <a:ea typeface="Cambria"/>
                  <a:cs typeface="Cambria"/>
                  <a:sym typeface="Cambria"/>
                </a:rPr>
                <a:t>+0.11%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23"/>
          <p:cNvGrpSpPr/>
          <p:nvPr/>
        </p:nvGrpSpPr>
        <p:grpSpPr>
          <a:xfrm>
            <a:off x="411480" y="3429000"/>
            <a:ext cx="8318754" cy="1097280"/>
            <a:chOff x="411480" y="3429000"/>
            <a:chExt cx="8318754" cy="1097280"/>
          </a:xfrm>
        </p:grpSpPr>
        <p:sp>
          <p:nvSpPr>
            <p:cNvPr id="214" name="Google Shape;214;p23"/>
            <p:cNvSpPr/>
            <p:nvPr/>
          </p:nvSpPr>
          <p:spPr>
            <a:xfrm>
              <a:off x="411480" y="3429000"/>
              <a:ext cx="8318754" cy="1097280"/>
            </a:xfrm>
            <a:prstGeom prst="roundRect">
              <a:avLst>
                <a:gd fmla="val 5625" name="adj"/>
              </a:avLst>
            </a:prstGeom>
            <a:solidFill>
              <a:srgbClr val="F4F6FB"/>
            </a:solidFill>
            <a:ln cap="flat" cmpd="sng" w="15875">
              <a:solidFill>
                <a:srgbClr val="F5A5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582930" y="3531870"/>
              <a:ext cx="4114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5A524"/>
                </a:buClr>
                <a:buSzPts val="1100"/>
                <a:buFont typeface="Cambria"/>
                <a:buNone/>
              </a:pPr>
              <a:r>
                <a:rPr b="1" lang="en-GB" sz="1100">
                  <a:solidFill>
                    <a:srgbClr val="F5A524"/>
                  </a:solidFill>
                  <a:latin typeface="Cambria"/>
                  <a:ea typeface="Cambria"/>
                  <a:cs typeface="Cambria"/>
                  <a:sym typeface="Cambria"/>
                </a:rPr>
                <a:t>What the fine-tuning bought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582930" y="3806190"/>
              <a:ext cx="795528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1B2E"/>
                </a:buClr>
                <a:buSzPts val="1000"/>
                <a:buFont typeface="Calibri"/>
                <a:buNone/>
              </a:pPr>
              <a:r>
                <a:rPr lang="en-GB" sz="1000">
                  <a:solidFill>
                    <a:srgbClr val="141B2E"/>
                  </a:solidFill>
                  <a:latin typeface="Calibri"/>
                  <a:ea typeface="Calibri"/>
                  <a:cs typeface="Calibri"/>
                  <a:sym typeface="Calibri"/>
                </a:rPr>
                <a:t>Vocabulary trimming and bigrams lifted test accuracy by only 0.11 points. In short, keyword-driven headlines the default TF-IDF already captures most of the signal, so heavier feature engineering gives diminishing returns. Model 2 was still chosen for deployment for its cleaner, capped feature space.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E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lang="en-GB"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Best logistic regression vs the field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411480" y="8915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E4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Held-out 6,442 headline test split. The tuned logistic regression leads; the pretrained transformer collapses to near chance.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74470"/>
            <a:ext cx="5760720" cy="32232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6412230" y="1543050"/>
            <a:ext cx="2331720" cy="788670"/>
          </a:xfrm>
          <a:prstGeom prst="roundRect">
            <a:avLst>
              <a:gd fmla="val 7826" name="adj"/>
            </a:avLst>
          </a:prstGeom>
          <a:solidFill>
            <a:srgbClr val="22B8A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GB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92.63%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  <a:t>Best &amp; deployed · tuned LogReg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412230" y="2434590"/>
            <a:ext cx="2331720" cy="788670"/>
          </a:xfrm>
          <a:prstGeom prst="roundRect">
            <a:avLst>
              <a:gd fmla="val 7826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GB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1.52%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  <a:t>Smallest train–test gap · Naive Bayes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412230" y="3326130"/>
            <a:ext cx="2331720" cy="788670"/>
          </a:xfrm>
          <a:prstGeom prst="roundRect">
            <a:avLst>
              <a:gd fmla="val 7826" name="adj"/>
            </a:avLst>
          </a:prstGeom>
          <a:solidFill>
            <a:srgbClr val="F26D6D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GB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48.55%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  <a:t>Pretrained transformer · wrong tool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6412230" y="4149090"/>
            <a:ext cx="23317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D0"/>
              </a:buClr>
              <a:buSzPts val="900"/>
              <a:buFont typeface="Calibri"/>
              <a:buNone/>
            </a:pPr>
            <a:r>
              <a:rPr i="1" lang="en-GB" sz="900">
                <a:solidFill>
                  <a:srgbClr val="AEB8D0"/>
                </a:solidFill>
                <a:latin typeface="Calibri"/>
                <a:ea typeface="Calibri"/>
                <a:cs typeface="Calibri"/>
                <a:sym typeface="Calibri"/>
              </a:rPr>
              <a:t>A financial-sentiment model has no notion of fake vs real, so it predicts one class and stalls near 49%.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1917125" y="1589800"/>
            <a:ext cx="467700" cy="171600"/>
          </a:xfrm>
          <a:prstGeom prst="roundRect">
            <a:avLst>
              <a:gd fmla="val 16667" name="adj"/>
            </a:avLst>
          </a:prstGeom>
          <a:solidFill>
            <a:srgbClr val="1E2740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75B6"/>
              </a:solidFill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917125" y="1514050"/>
            <a:ext cx="58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</a:rPr>
              <a:t>92.52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799225" y="1589800"/>
            <a:ext cx="467700" cy="171600"/>
          </a:xfrm>
          <a:prstGeom prst="roundRect">
            <a:avLst>
              <a:gd fmla="val 16667" name="adj"/>
            </a:avLst>
          </a:prstGeom>
          <a:solidFill>
            <a:srgbClr val="1E2740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75B6"/>
              </a:solidFill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799225" y="1514050"/>
            <a:ext cx="58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</a:rPr>
              <a:t>92.63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/>
          <p:nvPr/>
        </p:nvSpPr>
        <p:spPr>
          <a:xfrm>
            <a:off x="41148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Accuracy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411480" y="8915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Train vs test exposes overfitting. The grid search reached a higher test score but opened the widest gap, so it was set aside.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75" y="1543050"/>
            <a:ext cx="5280600" cy="24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411480" y="3943350"/>
            <a:ext cx="52806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900"/>
              <a:buFont typeface="Cambria"/>
              <a:buNone/>
            </a:pPr>
            <a:r>
              <a:rPr b="1" i="0" lang="en-GB" sz="900" u="none" cap="none" strike="noStrike">
                <a:solidFill>
                  <a:srgbClr val="141B2E"/>
                </a:solidFill>
                <a:latin typeface="Cambria"/>
                <a:ea typeface="Cambria"/>
                <a:cs typeface="Cambria"/>
                <a:sym typeface="Cambria"/>
              </a:rPr>
              <a:t>Train – test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14350" y="4217670"/>
            <a:ext cx="987552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514350" y="4279392"/>
            <a:ext cx="98755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6B7280"/>
                </a:solidFill>
                <a:latin typeface="Cambria"/>
                <a:ea typeface="Cambria"/>
                <a:cs typeface="Cambria"/>
                <a:sym typeface="Cambria"/>
              </a:rPr>
              <a:t>2.92%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14350" y="4567428"/>
            <a:ext cx="987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LogReg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1536192" y="4217670"/>
            <a:ext cx="987552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1536192" y="4279392"/>
            <a:ext cx="98755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D6D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26D6D"/>
                </a:solidFill>
                <a:latin typeface="Cambria"/>
                <a:ea typeface="Cambria"/>
                <a:cs typeface="Cambria"/>
                <a:sym typeface="Cambria"/>
              </a:rPr>
              <a:t>4.12%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1536192" y="4567428"/>
            <a:ext cx="987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GridSearch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C=</a:t>
            </a: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2558034" y="4217670"/>
            <a:ext cx="987552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2558034" y="4279392"/>
            <a:ext cx="98755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B8A6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22B8A6"/>
                </a:solidFill>
                <a:latin typeface="Cambria"/>
                <a:ea typeface="Cambria"/>
                <a:cs typeface="Cambria"/>
                <a:sym typeface="Cambria"/>
              </a:rPr>
              <a:t>3.33%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2558034" y="4567428"/>
            <a:ext cx="987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LogReg</a:t>
            </a:r>
            <a:r>
              <a:rPr lang="en-GB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uned </a:t>
            </a:r>
            <a:endParaRPr b="0" i="0" sz="6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C=3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3579876" y="4217670"/>
            <a:ext cx="987552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3579876" y="4279392"/>
            <a:ext cx="98755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EF5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4C6EF5"/>
                </a:solidFill>
                <a:latin typeface="Cambria"/>
                <a:ea typeface="Cambria"/>
                <a:cs typeface="Cambria"/>
                <a:sym typeface="Cambria"/>
              </a:rPr>
              <a:t>1.52%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3579876" y="4567428"/>
            <a:ext cx="987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Naive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Bayes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4601718" y="4217670"/>
            <a:ext cx="987552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 cap="flat" cmpd="sng" w="12700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4601718" y="4279392"/>
            <a:ext cx="98755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524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5A524"/>
                </a:solidFill>
                <a:latin typeface="Cambria"/>
                <a:ea typeface="Cambria"/>
                <a:cs typeface="Cambria"/>
                <a:sym typeface="Cambria"/>
              </a:rPr>
              <a:t>3.88%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4601718" y="4567428"/>
            <a:ext cx="987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Calibri"/>
              <a:buNone/>
            </a:pPr>
            <a:r>
              <a:rPr b="0" i="0" lang="en-GB" sz="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W2V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932170" y="1543050"/>
            <a:ext cx="2811780" cy="1474470"/>
          </a:xfrm>
          <a:prstGeom prst="roundRect">
            <a:avLst>
              <a:gd fmla="val 4186" name="adj"/>
            </a:avLst>
          </a:prstGeom>
          <a:solidFill>
            <a:srgbClr val="F4F6FB"/>
          </a:solidFill>
          <a:ln cap="flat" cmpd="sng" w="15875">
            <a:solidFill>
              <a:srgbClr val="F5A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6103620" y="1645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524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F5A524"/>
                </a:solidFill>
                <a:latin typeface="Cambria"/>
                <a:ea typeface="Cambria"/>
                <a:cs typeface="Cambria"/>
                <a:sym typeface="Cambria"/>
              </a:rPr>
              <a:t>Set aside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6103620" y="1933956"/>
            <a:ext cx="250317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2E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41B2E"/>
                </a:solidFill>
                <a:latin typeface="Calibri"/>
                <a:ea typeface="Calibri"/>
                <a:cs typeface="Calibri"/>
                <a:sym typeface="Calibri"/>
              </a:rPr>
              <a:t>GridSearch C=3</a:t>
            </a:r>
            <a:br>
              <a:rPr b="1" i="0" lang="en-GB" sz="1100" u="none" cap="none" strike="noStrike">
                <a:solidFill>
                  <a:srgbClr val="141B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93.01% test, but the widest 4.12% train–test gap. Higher score, weaker generalisation.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932170" y="3154680"/>
            <a:ext cx="2811780" cy="1645920"/>
          </a:xfrm>
          <a:prstGeom prst="roundRect">
            <a:avLst>
              <a:gd fmla="val 3750" name="adj"/>
            </a:avLst>
          </a:prstGeom>
          <a:solidFill>
            <a:srgbClr val="141B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6103620" y="32781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B8A6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22B8A6"/>
                </a:solidFill>
                <a:latin typeface="Cambria"/>
                <a:ea typeface="Cambria"/>
                <a:cs typeface="Cambria"/>
                <a:sym typeface="Cambria"/>
              </a:rPr>
              <a:t>Deployed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6103620" y="3566160"/>
            <a:ext cx="250317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LogReg tuned (C=3)</a:t>
            </a:r>
            <a:b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C7D0E4"/>
                </a:solidFill>
                <a:latin typeface="Calibri"/>
                <a:ea typeface="Calibri"/>
                <a:cs typeface="Calibri"/>
                <a:sym typeface="Calibri"/>
              </a:rPr>
              <a:t>92.63% test with a controlled 3.33% gap and a capped 5k feature space. Best balance of accuracy and stability.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3579875" y="3943350"/>
            <a:ext cx="1100100" cy="324900"/>
          </a:xfrm>
          <a:prstGeom prst="roundRect">
            <a:avLst>
              <a:gd fmla="val 7826" name="adj"/>
            </a:avLst>
          </a:prstGeom>
          <a:solidFill>
            <a:srgbClr val="4C6EF5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8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Stable generalization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/>
          <p:nvPr/>
        </p:nvSpPr>
        <p:spPr>
          <a:xfrm>
            <a:off x="377200" y="205740"/>
            <a:ext cx="6720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n-GB" sz="2000">
                <a:solidFill>
                  <a:srgbClr val="1D2733"/>
                </a:solidFill>
              </a:rPr>
              <a:t>reprocessing - Raw Data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26"/>
          <p:cNvCxnSpPr/>
          <p:nvPr/>
        </p:nvCxnSpPr>
        <p:spPr>
          <a:xfrm>
            <a:off x="377200" y="768096"/>
            <a:ext cx="8367000" cy="0"/>
          </a:xfrm>
          <a:prstGeom prst="straightConnector1">
            <a:avLst/>
          </a:prstGeom>
          <a:noFill/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1" name="Google Shape;271;p26" title="punctu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638" y="1722700"/>
            <a:ext cx="37719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title="countvect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363" y="2860900"/>
            <a:ext cx="458152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/>
          <p:nvPr/>
        </p:nvSpPr>
        <p:spPr>
          <a:xfrm>
            <a:off x="377200" y="205740"/>
            <a:ext cx="6720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ngram_range tuning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397775" y="562356"/>
            <a:ext cx="5829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18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17181"/>
                </a:solidFill>
                <a:latin typeface="Arial"/>
                <a:ea typeface="Arial"/>
                <a:cs typeface="Arial"/>
                <a:sym typeface="Arial"/>
              </a:rPr>
              <a:t>Testing unigram, bigram and combined features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7"/>
          <p:cNvCxnSpPr/>
          <p:nvPr/>
        </p:nvCxnSpPr>
        <p:spPr>
          <a:xfrm>
            <a:off x="377200" y="768096"/>
            <a:ext cx="8367000" cy="0"/>
          </a:xfrm>
          <a:prstGeom prst="straightConnector1">
            <a:avLst/>
          </a:prstGeom>
          <a:noFill/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7"/>
          <p:cNvSpPr/>
          <p:nvPr/>
        </p:nvSpPr>
        <p:spPr>
          <a:xfrm>
            <a:off x="514364" y="932688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CountVectorizer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gram_cv.png" id="282" name="Google Shape;2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792" y="1200150"/>
            <a:ext cx="3279072" cy="305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/>
          <p:nvPr/>
        </p:nvSpPr>
        <p:spPr>
          <a:xfrm>
            <a:off x="4732146" y="932688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gram_tfidf.png" id="284" name="Google Shape;2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6574" y="1200150"/>
            <a:ext cx="3279072" cy="305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/>
          <p:nvPr/>
        </p:nvSpPr>
        <p:spPr>
          <a:xfrm>
            <a:off x="589804" y="4491990"/>
            <a:ext cx="7818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Combined unigrams + bigrams, ngram_range=(1,2), gives the best Logistic Regression result. Pure bigrams, ngram_range=(2,2), lose too much single-word signal.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/>
          <p:nvPr/>
        </p:nvSpPr>
        <p:spPr>
          <a:xfrm>
            <a:off x="377200" y="205740"/>
            <a:ext cx="6720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397775" y="562356"/>
            <a:ext cx="5829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18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17181"/>
                </a:solidFill>
                <a:latin typeface="Arial"/>
                <a:ea typeface="Arial"/>
                <a:cs typeface="Arial"/>
                <a:sym typeface="Arial"/>
              </a:rPr>
              <a:t>Four classifiers compared with two vectorizers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28"/>
          <p:cNvCxnSpPr/>
          <p:nvPr/>
        </p:nvCxnSpPr>
        <p:spPr>
          <a:xfrm>
            <a:off x="377200" y="768096"/>
            <a:ext cx="8367000" cy="0"/>
          </a:xfrm>
          <a:prstGeom prst="straightConnector1">
            <a:avLst/>
          </a:prstGeom>
          <a:noFill/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linechart_comparison.png"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91" y="1205354"/>
            <a:ext cx="5452110" cy="271221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/>
          <p:nvPr/>
        </p:nvSpPr>
        <p:spPr>
          <a:xfrm>
            <a:off x="6069492" y="994410"/>
            <a:ext cx="2434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What the chart shows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6069492" y="1371600"/>
            <a:ext cx="25374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CountVectorizer is slightly stronger than TF-IDF for all tested models. Logistic Regression and Multinomial Naive Bayes are the best performers, while XGBoost performs lowest in this setup.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6069492" y="2777490"/>
            <a:ext cx="150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181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617181"/>
                </a:solidFill>
                <a:latin typeface="Arial"/>
                <a:ea typeface="Arial"/>
                <a:cs typeface="Arial"/>
                <a:sym typeface="Arial"/>
              </a:rPr>
              <a:t>Best model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6069492" y="3031236"/>
            <a:ext cx="264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Logistic Regression + CountVectorizer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6069492" y="3538728"/>
            <a:ext cx="185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Accuracy: 0.941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/>
          <p:nvPr/>
        </p:nvSpPr>
        <p:spPr>
          <a:xfrm>
            <a:off x="411480" y="3429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2600"/>
              <a:buFont typeface="Cambria"/>
              <a:buNone/>
            </a:pPr>
            <a:r>
              <a:rPr b="1" i="0" lang="en-GB" sz="26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Comparing Two Pipelines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411480" y="877824"/>
            <a:ext cx="58978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teammates, Jenifar and Yoan, built independent pipelines on the same training and test data — and both independently arrived at the same first fix: removing duplicates.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411480" y="1474470"/>
            <a:ext cx="3669030" cy="877824"/>
          </a:xfrm>
          <a:prstGeom prst="roundRect">
            <a:avLst>
              <a:gd fmla="val 6250" name="adj"/>
            </a:avLst>
          </a:prstGeom>
          <a:solidFill>
            <a:srgbClr val="F5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617220" y="1474470"/>
            <a:ext cx="10287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4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4C6EF4"/>
                </a:solidFill>
                <a:latin typeface="Cambria"/>
                <a:ea typeface="Cambria"/>
                <a:cs typeface="Cambria"/>
                <a:sym typeface="Cambria"/>
              </a:rPr>
              <a:t>32,206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1577340" y="1474470"/>
            <a:ext cx="24003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unique headlines left after both pipelines removed 1,946 duplicate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411480" y="2537460"/>
            <a:ext cx="3669030" cy="877824"/>
          </a:xfrm>
          <a:prstGeom prst="roundRect">
            <a:avLst>
              <a:gd fmla="val 6250" name="adj"/>
            </a:avLst>
          </a:prstGeom>
          <a:solidFill>
            <a:srgbClr val="F5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617220" y="2537460"/>
            <a:ext cx="10287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B8A5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21B8A5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1577340" y="2537460"/>
            <a:ext cx="24003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models compared by Jenifar — including embeddings and a transformer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411480" y="3600450"/>
            <a:ext cx="3669030" cy="877824"/>
          </a:xfrm>
          <a:prstGeom prst="roundRect">
            <a:avLst>
              <a:gd fmla="val 6250" name="adj"/>
            </a:avLst>
          </a:prstGeom>
          <a:solidFill>
            <a:srgbClr val="F5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617220" y="3600450"/>
            <a:ext cx="10287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524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F4A524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1577340" y="3600450"/>
            <a:ext cx="24003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vectorizer × model combinations retested by Yoan on the deduplicated 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4354830" y="1474470"/>
            <a:ext cx="4354830" cy="3188970"/>
          </a:xfrm>
          <a:prstGeom prst="roundRect">
            <a:avLst>
              <a:gd fmla="val 2151" name="adj"/>
            </a:avLst>
          </a:prstGeom>
          <a:solidFill>
            <a:srgbClr val="15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9"/>
          <p:cNvSpPr/>
          <p:nvPr/>
        </p:nvSpPr>
        <p:spPr>
          <a:xfrm>
            <a:off x="4629150" y="1680210"/>
            <a:ext cx="3840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each pipeline tested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4629150" y="2283714"/>
            <a:ext cx="109728" cy="109728"/>
          </a:xfrm>
          <a:prstGeom prst="rect">
            <a:avLst/>
          </a:prstGeom>
          <a:solidFill>
            <a:srgbClr val="21B8A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4834890" y="2173986"/>
            <a:ext cx="13716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B8A5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21B8A5"/>
                </a:solidFill>
                <a:latin typeface="Calibri"/>
                <a:ea typeface="Calibri"/>
                <a:cs typeface="Calibri"/>
                <a:sym typeface="Calibri"/>
              </a:rPr>
              <a:t>Jenifar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4629150" y="2448306"/>
            <a:ext cx="38404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AE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D7DAE6"/>
                </a:solidFill>
                <a:latin typeface="Calibri"/>
                <a:ea typeface="Calibri"/>
                <a:cs typeface="Calibri"/>
                <a:sym typeface="Calibri"/>
              </a:rPr>
              <a:t>Full NLTK pipeline (stopwords + lemmatization), TF-IDF, 5 models — including Word2Vec + LightGBM and a pretrained transformer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4629150" y="3483864"/>
            <a:ext cx="109728" cy="109728"/>
          </a:xfrm>
          <a:prstGeom prst="rect">
            <a:avLst/>
          </a:prstGeom>
          <a:solidFill>
            <a:srgbClr val="F4A5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4834890" y="3374136"/>
            <a:ext cx="13716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52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4A524"/>
                </a:solidFill>
                <a:latin typeface="Calibri"/>
                <a:ea typeface="Calibri"/>
                <a:cs typeface="Calibri"/>
                <a:sym typeface="Calibri"/>
              </a:rPr>
              <a:t>Yoan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629150" y="3648456"/>
            <a:ext cx="38404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AE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D7DAE6"/>
                </a:solidFill>
                <a:latin typeface="Calibri"/>
                <a:ea typeface="Calibri"/>
                <a:cs typeface="Calibri"/>
                <a:sym typeface="Calibri"/>
              </a:rPr>
              <a:t>Lightweight cleaning, CountVectorizer / TF-IDF × 4 models, n-gram fixed at (1,2) after an earlier sweep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/>
          <p:nvPr/>
        </p:nvSpPr>
        <p:spPr>
          <a:xfrm>
            <a:off x="411480" y="342900"/>
            <a:ext cx="6515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Accuracy Is Not the Full Picture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411480" y="836676"/>
            <a:ext cx="60350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two highest-scoring models across both notebooks also opened the widest train–test gaps.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303020"/>
            <a:ext cx="521208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5726430" y="1200150"/>
            <a:ext cx="3017520" cy="768096"/>
          </a:xfrm>
          <a:prstGeom prst="roundRect">
            <a:avLst>
              <a:gd fmla="val 7143" name="adj"/>
            </a:avLst>
          </a:prstGeom>
          <a:solidFill>
            <a:srgbClr val="F5F6FB"/>
          </a:solidFill>
          <a:ln cap="flat" cmpd="sng" w="15875">
            <a:solidFill>
              <a:srgbClr val="F26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897880" y="1268730"/>
            <a:ext cx="274320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D6E"/>
              </a:buClr>
              <a:buSzPts val="700"/>
              <a:buFont typeface="Calibri"/>
              <a:buNone/>
            </a:pPr>
            <a:r>
              <a:rPr b="1" lang="en-GB" sz="700">
                <a:solidFill>
                  <a:srgbClr val="F26D6E"/>
                </a:solidFill>
                <a:latin typeface="Calibri"/>
                <a:ea typeface="Calibri"/>
                <a:cs typeface="Calibri"/>
                <a:sym typeface="Calibri"/>
              </a:rPr>
              <a:t>High gap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5897880" y="144703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GridSearch LR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5897880" y="1693926"/>
            <a:ext cx="2743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4.12 pt gap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5726430" y="2091690"/>
            <a:ext cx="3017520" cy="768096"/>
          </a:xfrm>
          <a:prstGeom prst="roundRect">
            <a:avLst>
              <a:gd fmla="val 7143" name="adj"/>
            </a:avLst>
          </a:prstGeom>
          <a:solidFill>
            <a:srgbClr val="F5F6FB"/>
          </a:solidFill>
          <a:ln cap="flat" cmpd="sng" w="15875">
            <a:solidFill>
              <a:srgbClr val="F26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0"/>
          <p:cNvSpPr/>
          <p:nvPr/>
        </p:nvSpPr>
        <p:spPr>
          <a:xfrm>
            <a:off x="5897880" y="2160270"/>
            <a:ext cx="274320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D6E"/>
              </a:buClr>
              <a:buSzPts val="700"/>
              <a:buFont typeface="Calibri"/>
              <a:buNone/>
            </a:pPr>
            <a:r>
              <a:rPr b="1" lang="en-GB" sz="700">
                <a:solidFill>
                  <a:srgbClr val="F26D6E"/>
                </a:solidFill>
                <a:latin typeface="Calibri"/>
                <a:ea typeface="Calibri"/>
                <a:cs typeface="Calibri"/>
                <a:sym typeface="Calibri"/>
              </a:rPr>
              <a:t>highest gap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5897880" y="233857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NB + CountVec (Yoan)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5897880" y="2585466"/>
            <a:ext cx="2743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4.83 pt gap — highest of 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5726430" y="2983230"/>
            <a:ext cx="3017520" cy="768096"/>
          </a:xfrm>
          <a:prstGeom prst="roundRect">
            <a:avLst>
              <a:gd fmla="val 7143" name="adj"/>
            </a:avLst>
          </a:prstGeom>
          <a:solidFill>
            <a:srgbClr val="15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5897880" y="3051810"/>
            <a:ext cx="274320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524"/>
              </a:buClr>
              <a:buSzPts val="700"/>
              <a:buFont typeface="Calibri"/>
              <a:buNone/>
            </a:pPr>
            <a:r>
              <a:rPr b="1" lang="en-GB" sz="700">
                <a:solidFill>
                  <a:srgbClr val="F4A524"/>
                </a:solidFill>
                <a:latin typeface="Calibri"/>
                <a:ea typeface="Calibri"/>
                <a:cs typeface="Calibri"/>
                <a:sym typeface="Calibri"/>
              </a:rPr>
              <a:t>BEST BALANCED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5897880" y="323011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LR tuned (C=3)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5897880" y="3477006"/>
            <a:ext cx="2743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6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D7DAE6"/>
                </a:solidFill>
                <a:latin typeface="Calibri"/>
                <a:ea typeface="Calibri"/>
                <a:cs typeface="Calibri"/>
                <a:sym typeface="Calibri"/>
              </a:rPr>
              <a:t>3.33 pt gap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5726430" y="3874770"/>
            <a:ext cx="3017520" cy="768096"/>
          </a:xfrm>
          <a:prstGeom prst="roundRect">
            <a:avLst>
              <a:gd fmla="val 7143" name="adj"/>
            </a:avLst>
          </a:prstGeom>
          <a:solidFill>
            <a:srgbClr val="15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5897880" y="3943350"/>
            <a:ext cx="274320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B8A5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21B8A5"/>
                </a:solidFill>
                <a:latin typeface="Calibri"/>
                <a:ea typeface="Calibri"/>
                <a:cs typeface="Calibri"/>
                <a:sym typeface="Calibri"/>
              </a:rPr>
              <a:t>BEST GENERALIZATION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5897880" y="412165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Naive Bayes (Jenifar)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5897880" y="4368546"/>
            <a:ext cx="2743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AE6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D7DAE6"/>
                </a:solidFill>
                <a:latin typeface="Calibri"/>
                <a:ea typeface="Calibri"/>
                <a:cs typeface="Calibri"/>
                <a:sym typeface="Calibri"/>
              </a:rPr>
              <a:t>1.52 pt gap — smallest of 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/>
          <p:nvPr/>
        </p:nvSpPr>
        <p:spPr>
          <a:xfrm>
            <a:off x="411480" y="342900"/>
            <a:ext cx="6515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Three Winners, Three Criteria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411480" y="836676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Instead of declaring one best model, we ranked the candidates by what actually matters for each use case.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411480" y="1371600"/>
            <a:ext cx="2708910" cy="3086100"/>
          </a:xfrm>
          <a:prstGeom prst="roundRect">
            <a:avLst>
              <a:gd fmla="val 2532" name="adj"/>
            </a:avLst>
          </a:prstGeom>
          <a:solidFill>
            <a:srgbClr val="F5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651510" y="1611630"/>
            <a:ext cx="377190" cy="82296"/>
          </a:xfrm>
          <a:prstGeom prst="roundRect">
            <a:avLst>
              <a:gd fmla="val 50000" name="adj"/>
            </a:avLst>
          </a:prstGeom>
          <a:solidFill>
            <a:srgbClr val="4C6E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/>
          <p:nvPr/>
        </p:nvSpPr>
        <p:spPr>
          <a:xfrm>
            <a:off x="651510" y="1748790"/>
            <a:ext cx="22288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EF4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4C6EF4"/>
                </a:solidFill>
                <a:latin typeface="Calibri"/>
                <a:ea typeface="Calibri"/>
                <a:cs typeface="Calibri"/>
                <a:sym typeface="Calibri"/>
              </a:rPr>
              <a:t>BEST RAW 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651510" y="195453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93.74%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651510" y="2551176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Yoan — Naive Bayes + CountVectorizer (1,2)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31"/>
          <p:cNvCxnSpPr/>
          <p:nvPr/>
        </p:nvCxnSpPr>
        <p:spPr>
          <a:xfrm>
            <a:off x="651510" y="3209544"/>
            <a:ext cx="222885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31"/>
          <p:cNvSpPr/>
          <p:nvPr/>
        </p:nvSpPr>
        <p:spPr>
          <a:xfrm>
            <a:off x="651510" y="3305556"/>
            <a:ext cx="22288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Disadvantage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651510" y="3511296"/>
            <a:ext cx="222885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Highest overfitting gap of the compared models (4.83 pts) — despite Naive Bayes usually being the ‘safe’ choice.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326130" y="1371600"/>
            <a:ext cx="2708910" cy="3086100"/>
          </a:xfrm>
          <a:prstGeom prst="roundRect">
            <a:avLst>
              <a:gd fmla="val 2532" name="adj"/>
            </a:avLst>
          </a:prstGeom>
          <a:solidFill>
            <a:srgbClr val="F5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3566160" y="1611630"/>
            <a:ext cx="377190" cy="82296"/>
          </a:xfrm>
          <a:prstGeom prst="roundRect">
            <a:avLst>
              <a:gd fmla="val 50000" name="adj"/>
            </a:avLst>
          </a:prstGeom>
          <a:solidFill>
            <a:srgbClr val="21B8A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3566160" y="1748790"/>
            <a:ext cx="22288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B8A5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21B8A5"/>
                </a:solidFill>
                <a:latin typeface="Calibri"/>
                <a:ea typeface="Calibri"/>
                <a:cs typeface="Calibri"/>
                <a:sym typeface="Calibri"/>
              </a:rPr>
              <a:t>BEST GENERALIZATION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3566160" y="195453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91.93%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3566160" y="2551176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Jenifar — Naive Bayes (capped TF-IDF)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31"/>
          <p:cNvCxnSpPr/>
          <p:nvPr/>
        </p:nvCxnSpPr>
        <p:spPr>
          <a:xfrm>
            <a:off x="3566160" y="3209544"/>
            <a:ext cx="222885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31"/>
          <p:cNvSpPr/>
          <p:nvPr/>
        </p:nvSpPr>
        <p:spPr>
          <a:xfrm>
            <a:off x="3566160" y="3305556"/>
            <a:ext cx="22288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Disadvantage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3566160" y="3511296"/>
            <a:ext cx="222885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Lowest raw accuracy of the four; assumes word independence, a known simplification.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6240780" y="1371600"/>
            <a:ext cx="2708910" cy="3086100"/>
          </a:xfrm>
          <a:prstGeom prst="roundRect">
            <a:avLst>
              <a:gd fmla="val 2532" name="adj"/>
            </a:avLst>
          </a:prstGeom>
          <a:solidFill>
            <a:srgbClr val="F5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1"/>
          <p:cNvSpPr/>
          <p:nvPr/>
        </p:nvSpPr>
        <p:spPr>
          <a:xfrm>
            <a:off x="6480810" y="1611630"/>
            <a:ext cx="377190" cy="82296"/>
          </a:xfrm>
          <a:prstGeom prst="roundRect">
            <a:avLst>
              <a:gd fmla="val 50000" name="adj"/>
            </a:avLst>
          </a:prstGeom>
          <a:solidFill>
            <a:srgbClr val="F4A5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6480810" y="1748790"/>
            <a:ext cx="22288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524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4A524"/>
                </a:solidFill>
                <a:latin typeface="Calibri"/>
                <a:ea typeface="Calibri"/>
                <a:cs typeface="Calibri"/>
                <a:sym typeface="Calibri"/>
              </a:rPr>
              <a:t>BEST BALANCE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6480810" y="195453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92.63%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6480810" y="2551176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Jenifar — Tuned Logistic Regression (C = 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31"/>
          <p:cNvCxnSpPr/>
          <p:nvPr/>
        </p:nvCxnSpPr>
        <p:spPr>
          <a:xfrm>
            <a:off x="6480810" y="3209544"/>
            <a:ext cx="222885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31"/>
          <p:cNvSpPr/>
          <p:nvPr/>
        </p:nvSpPr>
        <p:spPr>
          <a:xfrm>
            <a:off x="6480810" y="3305556"/>
            <a:ext cx="22288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Disadvantage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6480810" y="3511296"/>
            <a:ext cx="222885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Not #1 on either single metric — but the one the team actually shipped.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/>
          <p:nvPr/>
        </p:nvSpPr>
        <p:spPr>
          <a:xfrm>
            <a:off x="411480" y="342900"/>
            <a:ext cx="6515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Bigger Isn’t Always Better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411480" y="836676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more advanced approaches were tested. Neither outperformed the simple TF-IDF baseline.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411480" y="1474470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Word2Vec + LightGBM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411480" y="1817370"/>
            <a:ext cx="3840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headline became one 100-d vector by averaging its word vectors, then LightGBM classified on top.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411480" y="2297430"/>
            <a:ext cx="20574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524"/>
              </a:buClr>
              <a:buSzPts val="3300"/>
              <a:buFont typeface="Cambria"/>
              <a:buNone/>
            </a:pPr>
            <a:r>
              <a:rPr b="1" i="0" lang="en-GB" sz="3300" u="none" cap="none" strike="noStrike">
                <a:solidFill>
                  <a:srgbClr val="F4A524"/>
                </a:solidFill>
                <a:latin typeface="Cambria"/>
                <a:ea typeface="Cambria"/>
                <a:cs typeface="Cambria"/>
                <a:sym typeface="Cambria"/>
              </a:rPr>
              <a:t>87.22%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411480" y="288036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 accuracy — below every TF-IDF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411480" y="3257550"/>
            <a:ext cx="38404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Why lower? Averaging blurs word-level signal — for short headlines, sparse TF-IDF keyword evidence is simply stronger.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32"/>
          <p:cNvCxnSpPr/>
          <p:nvPr/>
        </p:nvCxnSpPr>
        <p:spPr>
          <a:xfrm>
            <a:off x="4560570" y="1474470"/>
            <a:ext cx="0" cy="322326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32"/>
          <p:cNvSpPr/>
          <p:nvPr/>
        </p:nvSpPr>
        <p:spPr>
          <a:xfrm>
            <a:off x="4766310" y="1474470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181D33"/>
                </a:solidFill>
                <a:latin typeface="Cambria"/>
                <a:ea typeface="Cambria"/>
                <a:cs typeface="Cambria"/>
                <a:sym typeface="Cambria"/>
              </a:rPr>
              <a:t>Pretrained Transformer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4766310" y="1817370"/>
            <a:ext cx="3840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 off-the-shelf financial-sentiment model was applied directly, with no fine-tuning on this dataset.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4766310" y="2297430"/>
            <a:ext cx="20574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D6E"/>
              </a:buClr>
              <a:buSzPts val="3300"/>
              <a:buFont typeface="Cambria"/>
              <a:buNone/>
            </a:pPr>
            <a:r>
              <a:rPr b="1" i="0" lang="en-GB" sz="3300" u="none" cap="none" strike="noStrike">
                <a:solidFill>
                  <a:srgbClr val="F26D6E"/>
                </a:solidFill>
                <a:latin typeface="Cambria"/>
                <a:ea typeface="Cambria"/>
                <a:cs typeface="Cambria"/>
                <a:sym typeface="Cambria"/>
              </a:rPr>
              <a:t>48.55%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4766310" y="288036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accuracy — essentially one-class guessing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4766310" y="3257550"/>
            <a:ext cx="38404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D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81D33"/>
                </a:solidFill>
                <a:latin typeface="Calibri"/>
                <a:ea typeface="Calibri"/>
                <a:cs typeface="Calibri"/>
                <a:sym typeface="Calibri"/>
              </a:rPr>
              <a:t>Sentiment (positive/negative) doesn’t map to veracity (fake/real) — it would need fine-tuning on this exact task to be a fair comparison.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A2E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/>
          <p:nvPr/>
        </p:nvSpPr>
        <p:spPr>
          <a:xfrm>
            <a:off x="411480" y="34290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This Comparison Shows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411480" y="1062990"/>
            <a:ext cx="342900" cy="34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C6E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41148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891540" y="1028700"/>
            <a:ext cx="7269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single winner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891540" y="1289304"/>
            <a:ext cx="72694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4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AEB4C4"/>
                </a:solidFill>
                <a:latin typeface="Calibri"/>
                <a:ea typeface="Calibri"/>
                <a:cs typeface="Calibri"/>
                <a:sym typeface="Calibri"/>
              </a:rPr>
              <a:t>The best model changes depending on whether you optimize for raw accuracy or for generalization.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411480" y="1851660"/>
            <a:ext cx="342900" cy="34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1B8A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411480" y="18516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891540" y="1817370"/>
            <a:ext cx="7269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Preprocessing shapes overfitting too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891540" y="2077974"/>
            <a:ext cx="72694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4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AEB4C4"/>
                </a:solidFill>
                <a:latin typeface="Calibri"/>
                <a:ea typeface="Calibri"/>
                <a:cs typeface="Calibri"/>
                <a:sym typeface="Calibri"/>
              </a:rPr>
              <a:t>The same algorithm, Naive Bayes, swung from a 1.5-point to a 4.8-point train–test gap purely on vocabulary capping and lemmatization — not just the model choice.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411480" y="2640330"/>
            <a:ext cx="342900" cy="34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5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/>
          <p:nvPr/>
        </p:nvSpPr>
        <p:spPr>
          <a:xfrm>
            <a:off x="411480" y="264033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891540" y="2606040"/>
            <a:ext cx="7269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Match the tool to the 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891540" y="2866644"/>
            <a:ext cx="72694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4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AEB4C4"/>
                </a:solidFill>
                <a:latin typeface="Calibri"/>
                <a:ea typeface="Calibri"/>
                <a:cs typeface="Calibri"/>
                <a:sym typeface="Calibri"/>
              </a:rPr>
              <a:t>A pretrained model only transfers when its training objective aligns with yours — sentiment ≠ veracity.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411480" y="3429000"/>
            <a:ext cx="342900" cy="34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26D6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411480" y="3429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891540" y="3394710"/>
            <a:ext cx="7269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Health Tech parallel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891540" y="3655314"/>
            <a:ext cx="72694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4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AEB4C4"/>
                </a:solidFill>
                <a:latin typeface="Calibri"/>
                <a:ea typeface="Calibri"/>
                <a:cs typeface="Calibri"/>
                <a:sym typeface="Calibri"/>
              </a:rPr>
              <a:t>A model that memorizes training data but fails to generalize is a serious risk in production — whether it’s flagging fake news or classifying clinical notes.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33"/>
          <p:cNvCxnSpPr/>
          <p:nvPr/>
        </p:nvCxnSpPr>
        <p:spPr>
          <a:xfrm>
            <a:off x="411480" y="4217670"/>
            <a:ext cx="7680960" cy="0"/>
          </a:xfrm>
          <a:prstGeom prst="straightConnector1">
            <a:avLst/>
          </a:prstGeom>
          <a:noFill/>
          <a:ln cap="flat" cmpd="sng" w="12700">
            <a:solidFill>
              <a:srgbClr val="2A31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33"/>
          <p:cNvSpPr/>
          <p:nvPr/>
        </p:nvSpPr>
        <p:spPr>
          <a:xfrm>
            <a:off x="411480" y="43891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Generalization first: in production, reliability on unseen data matters more than a fraction of a point in accuracy — and that reliability comes from the full pipeline, not just the algorithm.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